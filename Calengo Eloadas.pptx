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75" r:id="rId8"/>
    <p:sldId id="273" r:id="rId9"/>
    <p:sldId id="261" r:id="rId10"/>
    <p:sldId id="262" r:id="rId11"/>
    <p:sldId id="263" r:id="rId12"/>
    <p:sldId id="264" r:id="rId13"/>
    <p:sldId id="265" r:id="rId14"/>
    <p:sldId id="266" r:id="rId15"/>
    <p:sldId id="272" r:id="rId16"/>
    <p:sldId id="268" r:id="rId17"/>
  </p:sldIdLst>
  <p:sldSz cx="9144000" cy="5143500" type="screen16x9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8AED8C-CE7F-4B7B-A666-030552DC610B}" v="276" dt="2026-04-28T18:35:53.123"/>
    <p1510:client id="{8EC37872-03B6-4979-8246-4985A494979D}" v="59" dt="2026-04-28T17:43:17.124"/>
    <p1510:client id="{D828D490-2204-4020-90E9-3BF8FF6AECE7}" v="776" dt="2026-04-28T17:25:13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66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9;p2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15320" y="1195560"/>
            <a:ext cx="771336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" name="Google Shape;12;p2"/>
          <p:cNvGrpSpPr/>
          <p:nvPr/>
        </p:nvGrpSpPr>
        <p:grpSpPr>
          <a:xfrm>
            <a:off x="-424800" y="-1078200"/>
            <a:ext cx="10569600" cy="6823080"/>
            <a:chOff x="-424800" y="-1078200"/>
            <a:chExt cx="10569600" cy="6823080"/>
          </a:xfrm>
        </p:grpSpPr>
        <p:pic>
          <p:nvPicPr>
            <p:cNvPr id="3" name="Google Shape;13;p2"/>
            <p:cNvPicPr/>
            <p:nvPr/>
          </p:nvPicPr>
          <p:blipFill>
            <a:blip r:embed="rId3"/>
            <a:srcRect t="8682" b="25474"/>
            <a:stretch/>
          </p:blipFill>
          <p:spPr>
            <a:xfrm>
              <a:off x="-276120" y="2993040"/>
              <a:ext cx="9419760" cy="2201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4;p2"/>
            <p:cNvPicPr/>
            <p:nvPr/>
          </p:nvPicPr>
          <p:blipFill>
            <a:blip r:embed="rId4">
              <a:alphaModFix amt="37000"/>
            </a:blip>
            <a:srcRect l="22932" b="43561"/>
            <a:stretch/>
          </p:blipFill>
          <p:spPr>
            <a:xfrm rot="397800">
              <a:off x="-340920" y="3833640"/>
              <a:ext cx="4060440" cy="168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" name="Google Shape;15;p2"/>
            <p:cNvPicPr/>
            <p:nvPr/>
          </p:nvPicPr>
          <p:blipFill>
            <a:blip r:embed="rId5">
              <a:alphaModFix amt="31000"/>
            </a:blip>
            <a:srcRect l="27627" t="37156"/>
            <a:stretch/>
          </p:blipFill>
          <p:spPr>
            <a:xfrm>
              <a:off x="-424800" y="-609120"/>
              <a:ext cx="3687120" cy="1384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" name="Google Shape;16;p2"/>
            <p:cNvPicPr/>
            <p:nvPr/>
          </p:nvPicPr>
          <p:blipFill>
            <a:blip r:embed="rId6">
              <a:alphaModFix amt="31000"/>
            </a:blip>
            <a:srcRect l="12047" t="40696" r="30099"/>
            <a:stretch/>
          </p:blipFill>
          <p:spPr>
            <a:xfrm rot="1168800">
              <a:off x="6186600" y="-463680"/>
              <a:ext cx="3879720" cy="1135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82;p13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53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1552680" y="1488960"/>
            <a:ext cx="734400" cy="54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3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title"/>
          </p:nvPr>
        </p:nvSpPr>
        <p:spPr>
          <a:xfrm>
            <a:off x="1552680" y="3226320"/>
            <a:ext cx="734400" cy="54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3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title"/>
          </p:nvPr>
        </p:nvSpPr>
        <p:spPr>
          <a:xfrm>
            <a:off x="4204800" y="1488960"/>
            <a:ext cx="734400" cy="54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3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title"/>
          </p:nvPr>
        </p:nvSpPr>
        <p:spPr>
          <a:xfrm>
            <a:off x="4204800" y="3226320"/>
            <a:ext cx="734400" cy="54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3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title"/>
          </p:nvPr>
        </p:nvSpPr>
        <p:spPr>
          <a:xfrm>
            <a:off x="6856560" y="1488960"/>
            <a:ext cx="734400" cy="54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3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title"/>
          </p:nvPr>
        </p:nvSpPr>
        <p:spPr>
          <a:xfrm>
            <a:off x="6856560" y="3226320"/>
            <a:ext cx="734400" cy="54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3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3" name="Google Shape;96;p13"/>
          <p:cNvGrpSpPr/>
          <p:nvPr/>
        </p:nvGrpSpPr>
        <p:grpSpPr>
          <a:xfrm>
            <a:off x="-565560" y="-1667520"/>
            <a:ext cx="10538640" cy="8322480"/>
            <a:chOff x="-565560" y="-1667520"/>
            <a:chExt cx="10538640" cy="8322480"/>
          </a:xfrm>
        </p:grpSpPr>
        <p:pic>
          <p:nvPicPr>
            <p:cNvPr id="24" name="Google Shape;97;p13"/>
            <p:cNvPicPr/>
            <p:nvPr/>
          </p:nvPicPr>
          <p:blipFill>
            <a:blip r:embed="rId3">
              <a:alphaModFix amt="48000"/>
            </a:blip>
            <a:stretch/>
          </p:blipFill>
          <p:spPr>
            <a:xfrm rot="10800000">
              <a:off x="4878000" y="4451040"/>
              <a:ext cx="509508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" name="Google Shape;98;p13"/>
            <p:cNvPicPr/>
            <p:nvPr/>
          </p:nvPicPr>
          <p:blipFill>
            <a:blip r:embed="rId4">
              <a:alphaModFix amt="78000"/>
            </a:blip>
            <a:srcRect l="22932" b="43561"/>
            <a:stretch/>
          </p:blipFill>
          <p:spPr>
            <a:xfrm rot="9880200">
              <a:off x="-345600" y="-925560"/>
              <a:ext cx="5941440" cy="24620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100;p14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53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8" name="Google Shape;102;p14"/>
          <p:cNvGrpSpPr/>
          <p:nvPr/>
        </p:nvGrpSpPr>
        <p:grpSpPr>
          <a:xfrm>
            <a:off x="-1764720" y="-2189160"/>
            <a:ext cx="12540600" cy="4805640"/>
            <a:chOff x="-1764720" y="-2189160"/>
            <a:chExt cx="12540600" cy="4805640"/>
          </a:xfrm>
        </p:grpSpPr>
        <p:pic>
          <p:nvPicPr>
            <p:cNvPr id="29" name="Google Shape;103;p14"/>
            <p:cNvPicPr/>
            <p:nvPr/>
          </p:nvPicPr>
          <p:blipFill>
            <a:blip r:embed="rId3">
              <a:alphaModFix amt="78000"/>
            </a:blip>
            <a:srcRect l="22932" b="43561"/>
            <a:stretch/>
          </p:blipFill>
          <p:spPr>
            <a:xfrm rot="12350400" flipH="1">
              <a:off x="4594680" y="-1017000"/>
              <a:ext cx="5941440" cy="2462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" name="Google Shape;104;p14"/>
            <p:cNvPicPr/>
            <p:nvPr/>
          </p:nvPicPr>
          <p:blipFill>
            <a:blip r:embed="rId4">
              <a:alphaModFix amt="31000"/>
            </a:blip>
            <a:stretch/>
          </p:blipFill>
          <p:spPr>
            <a:xfrm rot="21145200">
              <a:off x="-1667520" y="-1319400"/>
              <a:ext cx="6707160" cy="19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06;p15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451040" y="834840"/>
            <a:ext cx="3793320" cy="145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4" name="Google Shape;109;p15"/>
          <p:cNvGrpSpPr/>
          <p:nvPr/>
        </p:nvGrpSpPr>
        <p:grpSpPr>
          <a:xfrm>
            <a:off x="-630000" y="-1157400"/>
            <a:ext cx="10897920" cy="7275960"/>
            <a:chOff x="-630000" y="-1157400"/>
            <a:chExt cx="10897920" cy="7275960"/>
          </a:xfrm>
        </p:grpSpPr>
        <p:pic>
          <p:nvPicPr>
            <p:cNvPr id="35" name="Google Shape;110;p15"/>
            <p:cNvPicPr/>
            <p:nvPr/>
          </p:nvPicPr>
          <p:blipFill>
            <a:blip r:embed="rId3"/>
            <a:srcRect l="22932" b="43561"/>
            <a:stretch/>
          </p:blipFill>
          <p:spPr>
            <a:xfrm rot="1806000" flipH="1">
              <a:off x="-453240" y="3029040"/>
              <a:ext cx="4848480" cy="2008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" name="Google Shape;111;p15"/>
            <p:cNvPicPr/>
            <p:nvPr/>
          </p:nvPicPr>
          <p:blipFill>
            <a:blip r:embed="rId4">
              <a:alphaModFix amt="31000"/>
            </a:blip>
            <a:stretch/>
          </p:blipFill>
          <p:spPr>
            <a:xfrm flipH="1">
              <a:off x="5172840" y="-1157400"/>
              <a:ext cx="5095080" cy="22039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13;p16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14960" y="534960"/>
            <a:ext cx="3658320" cy="1023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85680" y="534960"/>
            <a:ext cx="1672200" cy="209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16840" y="2797560"/>
            <a:ext cx="5441040" cy="181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432840" y="534960"/>
            <a:ext cx="1894320" cy="407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42" name="Google Shape;119;p16"/>
          <p:cNvGrpSpPr/>
          <p:nvPr/>
        </p:nvGrpSpPr>
        <p:grpSpPr>
          <a:xfrm>
            <a:off x="-1172520" y="-1141920"/>
            <a:ext cx="12101760" cy="7371360"/>
            <a:chOff x="-1172520" y="-1141920"/>
            <a:chExt cx="12101760" cy="7371360"/>
          </a:xfrm>
        </p:grpSpPr>
        <p:pic>
          <p:nvPicPr>
            <p:cNvPr id="43" name="Google Shape;120;p16"/>
            <p:cNvPicPr/>
            <p:nvPr/>
          </p:nvPicPr>
          <p:blipFill>
            <a:blip r:embed="rId3">
              <a:alphaModFix amt="30000"/>
            </a:blip>
            <a:srcRect r="33905"/>
            <a:stretch/>
          </p:blipFill>
          <p:spPr>
            <a:xfrm rot="7043400">
              <a:off x="7492680" y="3125880"/>
              <a:ext cx="336708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4" name="Google Shape;121;p16"/>
            <p:cNvPicPr/>
            <p:nvPr/>
          </p:nvPicPr>
          <p:blipFill>
            <a:blip r:embed="rId4">
              <a:alphaModFix amt="31000"/>
            </a:blip>
            <a:srcRect l="32956" t="19059" r="17417"/>
            <a:stretch/>
          </p:blipFill>
          <p:spPr>
            <a:xfrm rot="7839000">
              <a:off x="-1163880" y="-149400"/>
              <a:ext cx="3327840" cy="15505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8;p18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53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1" name="Google Shape;136;p18"/>
          <p:cNvGrpSpPr/>
          <p:nvPr/>
        </p:nvGrpSpPr>
        <p:grpSpPr>
          <a:xfrm>
            <a:off x="-2042640" y="-1384560"/>
            <a:ext cx="11865600" cy="8459280"/>
            <a:chOff x="-2042640" y="-1384560"/>
            <a:chExt cx="11865600" cy="8459280"/>
          </a:xfrm>
        </p:grpSpPr>
        <p:pic>
          <p:nvPicPr>
            <p:cNvPr id="52" name="Google Shape;137;p18"/>
            <p:cNvPicPr/>
            <p:nvPr/>
          </p:nvPicPr>
          <p:blipFill>
            <a:blip r:embed="rId3"/>
            <a:stretch/>
          </p:blipFill>
          <p:spPr>
            <a:xfrm rot="966600">
              <a:off x="-1763640" y="2489400"/>
              <a:ext cx="9419760" cy="3343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" name="Google Shape;138;p18"/>
            <p:cNvPicPr/>
            <p:nvPr/>
          </p:nvPicPr>
          <p:blipFill>
            <a:blip r:embed="rId4"/>
            <a:srcRect l="22932" b="43561"/>
            <a:stretch/>
          </p:blipFill>
          <p:spPr>
            <a:xfrm rot="11792400" flipH="1">
              <a:off x="4633920" y="-735840"/>
              <a:ext cx="4848480" cy="2008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" name="Google Shape;139;p18"/>
            <p:cNvPicPr/>
            <p:nvPr/>
          </p:nvPicPr>
          <p:blipFill>
            <a:blip r:embed="rId5">
              <a:alphaModFix amt="31000"/>
            </a:blip>
            <a:stretch/>
          </p:blipFill>
          <p:spPr>
            <a:xfrm rot="20595000" flipH="1">
              <a:off x="2981880" y="3544920"/>
              <a:ext cx="6707160" cy="19155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141;p19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0000" y="53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7" name="Google Shape;149;p19"/>
          <p:cNvGrpSpPr/>
          <p:nvPr/>
        </p:nvGrpSpPr>
        <p:grpSpPr>
          <a:xfrm>
            <a:off x="-1471680" y="1841760"/>
            <a:ext cx="11395080" cy="5139360"/>
            <a:chOff x="-1471680" y="1841760"/>
            <a:chExt cx="11395080" cy="5139360"/>
          </a:xfrm>
        </p:grpSpPr>
        <p:pic>
          <p:nvPicPr>
            <p:cNvPr id="58" name="Google Shape;150;p19"/>
            <p:cNvPicPr/>
            <p:nvPr/>
          </p:nvPicPr>
          <p:blipFill>
            <a:blip r:embed="rId3">
              <a:alphaModFix amt="31000"/>
            </a:blip>
            <a:stretch/>
          </p:blipFill>
          <p:spPr>
            <a:xfrm rot="11452800">
              <a:off x="4244400" y="4077720"/>
              <a:ext cx="509508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" name="Google Shape;151;p19"/>
            <p:cNvPicPr/>
            <p:nvPr/>
          </p:nvPicPr>
          <p:blipFill>
            <a:blip r:embed="rId4">
              <a:alphaModFix amt="71000"/>
            </a:blip>
            <a:srcRect l="22932" b="43561"/>
            <a:stretch/>
          </p:blipFill>
          <p:spPr>
            <a:xfrm rot="1872600" flipH="1">
              <a:off x="-1265400" y="3191040"/>
              <a:ext cx="5889960" cy="2440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" name="Google Shape;152;p19"/>
            <p:cNvPicPr/>
            <p:nvPr/>
          </p:nvPicPr>
          <p:blipFill>
            <a:blip r:embed="rId5">
              <a:alphaModFix amt="93000"/>
            </a:blip>
            <a:srcRect l="35907" t="27930" r="16903"/>
            <a:stretch/>
          </p:blipFill>
          <p:spPr>
            <a:xfrm rot="9728400">
              <a:off x="6623280" y="4068000"/>
              <a:ext cx="3164400" cy="13806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8;p3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391840" y="2748960"/>
            <a:ext cx="4359960" cy="886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4026960" y="1550160"/>
            <a:ext cx="108972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3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oogle Shape;21;p3"/>
          <p:cNvGrpSpPr/>
          <p:nvPr/>
        </p:nvGrpSpPr>
        <p:grpSpPr>
          <a:xfrm>
            <a:off x="-576720" y="-3141360"/>
            <a:ext cx="9846720" cy="9218880"/>
            <a:chOff x="-576720" y="-3141360"/>
            <a:chExt cx="9846720" cy="9218880"/>
          </a:xfrm>
        </p:grpSpPr>
        <p:pic>
          <p:nvPicPr>
            <p:cNvPr id="70" name="Google Shape;22;p3"/>
            <p:cNvPicPr/>
            <p:nvPr/>
          </p:nvPicPr>
          <p:blipFill>
            <a:blip r:embed="rId3"/>
            <a:stretch/>
          </p:blipFill>
          <p:spPr>
            <a:xfrm rot="21021600">
              <a:off x="-363240" y="-2376000"/>
              <a:ext cx="9419760" cy="3343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1" name="Google Shape;23;p3"/>
            <p:cNvPicPr/>
            <p:nvPr/>
          </p:nvPicPr>
          <p:blipFill>
            <a:blip r:embed="rId4">
              <a:alphaModFix amt="37000"/>
            </a:blip>
            <a:srcRect l="22932" b="43561"/>
            <a:stretch/>
          </p:blipFill>
          <p:spPr>
            <a:xfrm rot="9226200">
              <a:off x="-245520" y="-450000"/>
              <a:ext cx="4848480" cy="2008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" name="Google Shape;24;p3"/>
            <p:cNvPicPr/>
            <p:nvPr/>
          </p:nvPicPr>
          <p:blipFill>
            <a:blip r:embed="rId5"/>
            <a:stretch/>
          </p:blipFill>
          <p:spPr>
            <a:xfrm>
              <a:off x="4435920" y="3930840"/>
              <a:ext cx="4748400" cy="21466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73" name="Google Shape;25;p3"/>
          <p:cNvPicPr/>
          <p:nvPr/>
        </p:nvPicPr>
        <p:blipFill>
          <a:blip r:embed="rId6">
            <a:alphaModFix amt="31000"/>
          </a:blip>
          <a:stretch/>
        </p:blipFill>
        <p:spPr>
          <a:xfrm rot="1206000">
            <a:off x="-562680" y="3620520"/>
            <a:ext cx="6707160" cy="191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68;p21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20000" y="53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7" name="Google Shape;182;p21"/>
          <p:cNvGrpSpPr/>
          <p:nvPr/>
        </p:nvGrpSpPr>
        <p:grpSpPr>
          <a:xfrm>
            <a:off x="-1114920" y="-1796400"/>
            <a:ext cx="11678040" cy="4399200"/>
            <a:chOff x="-1114920" y="-1796400"/>
            <a:chExt cx="11678040" cy="4399200"/>
          </a:xfrm>
        </p:grpSpPr>
        <p:pic>
          <p:nvPicPr>
            <p:cNvPr id="78" name="Google Shape;183;p21"/>
            <p:cNvPicPr/>
            <p:nvPr/>
          </p:nvPicPr>
          <p:blipFill>
            <a:blip r:embed="rId3">
              <a:alphaModFix amt="84000"/>
            </a:blip>
            <a:srcRect l="22932" b="43561"/>
            <a:stretch/>
          </p:blipFill>
          <p:spPr>
            <a:xfrm rot="9370200">
              <a:off x="-905040" y="-853920"/>
              <a:ext cx="5110560" cy="2117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9" name="Google Shape;184;p21"/>
            <p:cNvPicPr/>
            <p:nvPr/>
          </p:nvPicPr>
          <p:blipFill>
            <a:blip r:embed="rId4">
              <a:alphaModFix amt="17000"/>
            </a:blip>
            <a:stretch/>
          </p:blipFill>
          <p:spPr>
            <a:xfrm rot="12285600" flipH="1">
              <a:off x="5240520" y="-566640"/>
              <a:ext cx="5095080" cy="22039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86;p22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body"/>
          </p:nvPr>
        </p:nvSpPr>
        <p:spPr>
          <a:xfrm>
            <a:off x="917280" y="1658880"/>
            <a:ext cx="4462200" cy="292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917280" y="534960"/>
            <a:ext cx="3321360" cy="114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3" name="Google Shape;189;p22"/>
          <p:cNvGrpSpPr/>
          <p:nvPr/>
        </p:nvGrpSpPr>
        <p:grpSpPr>
          <a:xfrm>
            <a:off x="-1303560" y="-1943280"/>
            <a:ext cx="12059640" cy="8490960"/>
            <a:chOff x="-1303560" y="-1943280"/>
            <a:chExt cx="12059640" cy="8490960"/>
          </a:xfrm>
        </p:grpSpPr>
        <p:pic>
          <p:nvPicPr>
            <p:cNvPr id="84" name="Google Shape;190;p22"/>
            <p:cNvPicPr/>
            <p:nvPr/>
          </p:nvPicPr>
          <p:blipFill>
            <a:blip r:embed="rId3">
              <a:alphaModFix amt="44000"/>
            </a:blip>
            <a:srcRect l="22932" b="43561"/>
            <a:stretch/>
          </p:blipFill>
          <p:spPr>
            <a:xfrm rot="20155800">
              <a:off x="4570920" y="2981160"/>
              <a:ext cx="5941440" cy="2462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5" name="Google Shape;191;p22"/>
            <p:cNvPicPr/>
            <p:nvPr/>
          </p:nvPicPr>
          <p:blipFill>
            <a:blip r:embed="rId4">
              <a:alphaModFix amt="31000"/>
            </a:blip>
            <a:stretch/>
          </p:blipFill>
          <p:spPr>
            <a:xfrm rot="20928600">
              <a:off x="-1181160" y="-1310400"/>
              <a:ext cx="6707160" cy="19155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86" name="Google Shape;192;p22"/>
          <p:cNvPicPr/>
          <p:nvPr/>
        </p:nvPicPr>
        <p:blipFill>
          <a:blip r:embed="rId5"/>
          <a:srcRect r="36313"/>
          <a:stretch/>
        </p:blipFill>
        <p:spPr>
          <a:xfrm rot="4432200">
            <a:off x="4563360" y="824400"/>
            <a:ext cx="5998680" cy="3343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194;p23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8" name="Google Shape;195;p23"/>
          <p:cNvGrpSpPr/>
          <p:nvPr/>
        </p:nvGrpSpPr>
        <p:grpSpPr>
          <a:xfrm>
            <a:off x="-630000" y="-1157400"/>
            <a:ext cx="10897920" cy="7275960"/>
            <a:chOff x="-630000" y="-1157400"/>
            <a:chExt cx="10897920" cy="7275960"/>
          </a:xfrm>
        </p:grpSpPr>
        <p:pic>
          <p:nvPicPr>
            <p:cNvPr id="89" name="Google Shape;196;p23"/>
            <p:cNvPicPr/>
            <p:nvPr/>
          </p:nvPicPr>
          <p:blipFill>
            <a:blip r:embed="rId3"/>
            <a:srcRect l="22932" b="43561"/>
            <a:stretch/>
          </p:blipFill>
          <p:spPr>
            <a:xfrm rot="1806000" flipH="1">
              <a:off x="-453240" y="3029040"/>
              <a:ext cx="4848480" cy="2008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0" name="Google Shape;197;p23"/>
            <p:cNvPicPr/>
            <p:nvPr/>
          </p:nvPicPr>
          <p:blipFill>
            <a:blip r:embed="rId4">
              <a:alphaModFix amt="31000"/>
            </a:blip>
            <a:stretch/>
          </p:blipFill>
          <p:spPr>
            <a:xfrm flipH="1">
              <a:off x="5172840" y="-1157400"/>
              <a:ext cx="5095080" cy="2203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1" name="PlaceHolder 1"/>
          <p:cNvSpPr>
            <a:spLocks noGrp="1"/>
          </p:cNvSpPr>
          <p:nvPr>
            <p:ph type="body"/>
          </p:nvPr>
        </p:nvSpPr>
        <p:spPr>
          <a:xfrm>
            <a:off x="917280" y="1658880"/>
            <a:ext cx="4462200" cy="292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917280" y="534960"/>
            <a:ext cx="4462200" cy="114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616720" y="534960"/>
            <a:ext cx="3061080" cy="405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202;p24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42400" y="534960"/>
            <a:ext cx="5265000" cy="105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6" name="Google Shape;205;p24"/>
          <p:cNvGrpSpPr/>
          <p:nvPr/>
        </p:nvGrpSpPr>
        <p:grpSpPr>
          <a:xfrm>
            <a:off x="-798480" y="-1628280"/>
            <a:ext cx="12666600" cy="8308800"/>
            <a:chOff x="-798480" y="-1628280"/>
            <a:chExt cx="12666600" cy="8308800"/>
          </a:xfrm>
        </p:grpSpPr>
        <p:pic>
          <p:nvPicPr>
            <p:cNvPr id="97" name="Google Shape;206;p24"/>
            <p:cNvPicPr/>
            <p:nvPr/>
          </p:nvPicPr>
          <p:blipFill>
            <a:blip r:embed="rId3">
              <a:alphaModFix amt="93000"/>
            </a:blip>
            <a:stretch/>
          </p:blipFill>
          <p:spPr>
            <a:xfrm rot="12328800" flipH="1">
              <a:off x="5074920" y="-278640"/>
              <a:ext cx="6707160" cy="19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8" name="Google Shape;207;p24"/>
            <p:cNvPicPr/>
            <p:nvPr/>
          </p:nvPicPr>
          <p:blipFill>
            <a:blip r:embed="rId4">
              <a:alphaModFix amt="71000"/>
            </a:blip>
            <a:srcRect l="22932" b="43561"/>
            <a:stretch/>
          </p:blipFill>
          <p:spPr>
            <a:xfrm rot="1872600" flipH="1">
              <a:off x="-592200" y="2890440"/>
              <a:ext cx="5889960" cy="24404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9" name="Google Shape;208;p24"/>
          <p:cNvSpPr/>
          <p:nvPr/>
        </p:nvSpPr>
        <p:spPr>
          <a:xfrm>
            <a:off x="4653000" y="1832040"/>
            <a:ext cx="364860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Montserrat"/>
                <a:ea typeface="Montserrat"/>
                <a:hlinkClick r:id="rId5"/>
              </a:rPr>
              <a:t>Slidesgo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,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 including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ontserrat"/>
                <a:ea typeface="Montserrat"/>
                <a:hlinkClick r:id="rId6"/>
              </a:rPr>
              <a:t>Freepik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210;p25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1" name="Google Shape;211;p25"/>
          <p:cNvGrpSpPr/>
          <p:nvPr/>
        </p:nvGrpSpPr>
        <p:grpSpPr>
          <a:xfrm>
            <a:off x="-798480" y="-1628280"/>
            <a:ext cx="12666600" cy="8308800"/>
            <a:chOff x="-798480" y="-1628280"/>
            <a:chExt cx="12666600" cy="8308800"/>
          </a:xfrm>
        </p:grpSpPr>
        <p:pic>
          <p:nvPicPr>
            <p:cNvPr id="102" name="Google Shape;212;p25"/>
            <p:cNvPicPr/>
            <p:nvPr/>
          </p:nvPicPr>
          <p:blipFill>
            <a:blip r:embed="rId3">
              <a:alphaModFix amt="93000"/>
            </a:blip>
            <a:stretch/>
          </p:blipFill>
          <p:spPr>
            <a:xfrm rot="12328800" flipH="1">
              <a:off x="5074920" y="-278640"/>
              <a:ext cx="6707160" cy="19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3" name="Google Shape;213;p25"/>
            <p:cNvPicPr/>
            <p:nvPr/>
          </p:nvPicPr>
          <p:blipFill>
            <a:blip r:embed="rId4">
              <a:alphaModFix amt="71000"/>
            </a:blip>
            <a:srcRect l="22932" b="43561"/>
            <a:stretch/>
          </p:blipFill>
          <p:spPr>
            <a:xfrm rot="1872600" flipH="1">
              <a:off x="-592200" y="2890440"/>
              <a:ext cx="5889960" cy="24404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31;p5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20000" y="53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5" name="Google Shape;37;p5"/>
          <p:cNvGrpSpPr/>
          <p:nvPr/>
        </p:nvGrpSpPr>
        <p:grpSpPr>
          <a:xfrm>
            <a:off x="-545400" y="-1792080"/>
            <a:ext cx="13132080" cy="7616520"/>
            <a:chOff x="-545400" y="-1792080"/>
            <a:chExt cx="13132080" cy="7616520"/>
          </a:xfrm>
        </p:grpSpPr>
        <p:pic>
          <p:nvPicPr>
            <p:cNvPr id="116" name="Google Shape;38;p5"/>
            <p:cNvPicPr/>
            <p:nvPr/>
          </p:nvPicPr>
          <p:blipFill>
            <a:blip r:embed="rId3">
              <a:alphaModFix amt="17000"/>
            </a:blip>
            <a:stretch/>
          </p:blipFill>
          <p:spPr>
            <a:xfrm rot="21090000" flipH="1">
              <a:off x="5196600" y="-939240"/>
              <a:ext cx="5095080" cy="2203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7" name="Google Shape;39;p5"/>
            <p:cNvPicPr/>
            <p:nvPr/>
          </p:nvPicPr>
          <p:blipFill>
            <a:blip r:embed="rId4">
              <a:alphaModFix amt="84000"/>
            </a:blip>
            <a:srcRect l="22932" b="43561"/>
            <a:stretch/>
          </p:blipFill>
          <p:spPr>
            <a:xfrm rot="397800">
              <a:off x="-440280" y="3418560"/>
              <a:ext cx="5110560" cy="2117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8" name="Google Shape;40;p5"/>
            <p:cNvPicPr/>
            <p:nvPr/>
          </p:nvPicPr>
          <p:blipFill>
            <a:blip r:embed="rId5">
              <a:alphaModFix amt="83000"/>
            </a:blip>
            <a:stretch/>
          </p:blipFill>
          <p:spPr>
            <a:xfrm rot="1507800" flipH="1">
              <a:off x="5789880" y="-458280"/>
              <a:ext cx="6707160" cy="19155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46;p7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body"/>
          </p:nvPr>
        </p:nvSpPr>
        <p:spPr>
          <a:xfrm>
            <a:off x="917280" y="1658880"/>
            <a:ext cx="4462200" cy="292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title"/>
          </p:nvPr>
        </p:nvSpPr>
        <p:spPr>
          <a:xfrm>
            <a:off x="917280" y="534960"/>
            <a:ext cx="3321360" cy="114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5" name="Google Shape;49;p7"/>
          <p:cNvGrpSpPr/>
          <p:nvPr/>
        </p:nvGrpSpPr>
        <p:grpSpPr>
          <a:xfrm>
            <a:off x="-1303560" y="-1943280"/>
            <a:ext cx="12059640" cy="8490960"/>
            <a:chOff x="-1303560" y="-1943280"/>
            <a:chExt cx="12059640" cy="8490960"/>
          </a:xfrm>
        </p:grpSpPr>
        <p:pic>
          <p:nvPicPr>
            <p:cNvPr id="126" name="Google Shape;50;p7"/>
            <p:cNvPicPr/>
            <p:nvPr/>
          </p:nvPicPr>
          <p:blipFill>
            <a:blip r:embed="rId3">
              <a:alphaModFix amt="44000"/>
            </a:blip>
            <a:srcRect l="22932" b="43561"/>
            <a:stretch/>
          </p:blipFill>
          <p:spPr>
            <a:xfrm rot="20155800">
              <a:off x="4570920" y="2981160"/>
              <a:ext cx="5941440" cy="2462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7" name="Google Shape;51;p7"/>
            <p:cNvPicPr/>
            <p:nvPr/>
          </p:nvPicPr>
          <p:blipFill>
            <a:blip r:embed="rId4">
              <a:alphaModFix amt="31000"/>
            </a:blip>
            <a:stretch/>
          </p:blipFill>
          <p:spPr>
            <a:xfrm rot="20928600">
              <a:off x="-1181160" y="-1310400"/>
              <a:ext cx="6707160" cy="19155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53;p8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0" name="Google Shape;55;p8"/>
          <p:cNvGrpSpPr/>
          <p:nvPr/>
        </p:nvGrpSpPr>
        <p:grpSpPr>
          <a:xfrm>
            <a:off x="-1161000" y="-559800"/>
            <a:ext cx="10569600" cy="6823080"/>
            <a:chOff x="-1161000" y="-559800"/>
            <a:chExt cx="10569600" cy="6823080"/>
          </a:xfrm>
        </p:grpSpPr>
        <p:pic>
          <p:nvPicPr>
            <p:cNvPr id="131" name="Google Shape;56;p8"/>
            <p:cNvPicPr/>
            <p:nvPr/>
          </p:nvPicPr>
          <p:blipFill>
            <a:blip r:embed="rId3"/>
            <a:srcRect t="8682" b="25474"/>
            <a:stretch/>
          </p:blipFill>
          <p:spPr>
            <a:xfrm rot="10800000">
              <a:off x="-159840" y="-9000"/>
              <a:ext cx="9419760" cy="2201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2" name="Google Shape;57;p8"/>
            <p:cNvPicPr/>
            <p:nvPr/>
          </p:nvPicPr>
          <p:blipFill>
            <a:blip r:embed="rId4">
              <a:alphaModFix amt="37000"/>
            </a:blip>
            <a:srcRect l="22932" b="43561"/>
            <a:stretch/>
          </p:blipFill>
          <p:spPr>
            <a:xfrm rot="11197800">
              <a:off x="5264280" y="-330840"/>
              <a:ext cx="4060440" cy="168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" name="Google Shape;58;p8"/>
            <p:cNvPicPr/>
            <p:nvPr/>
          </p:nvPicPr>
          <p:blipFill>
            <a:blip r:embed="rId5">
              <a:alphaModFix amt="31000"/>
            </a:blip>
            <a:srcRect l="27627" t="37156"/>
            <a:stretch/>
          </p:blipFill>
          <p:spPr>
            <a:xfrm rot="10800000">
              <a:off x="5721120" y="4409280"/>
              <a:ext cx="3687120" cy="1384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4" name="Google Shape;59;p8"/>
            <p:cNvPicPr/>
            <p:nvPr/>
          </p:nvPicPr>
          <p:blipFill>
            <a:blip r:embed="rId6">
              <a:alphaModFix amt="31000"/>
            </a:blip>
            <a:srcRect l="12047" t="40696" r="30099"/>
            <a:stretch/>
          </p:blipFill>
          <p:spPr>
            <a:xfrm rot="11968800">
              <a:off x="-1082520" y="4512960"/>
              <a:ext cx="3879720" cy="1135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61;p9"/>
          <p:cNvPicPr/>
          <p:nvPr/>
        </p:nvPicPr>
        <p:blipFill>
          <a:blip r:embed="rId2"/>
          <a:stretch/>
        </p:blipFill>
        <p:spPr>
          <a:xfrm>
            <a:off x="1800" y="0"/>
            <a:ext cx="91400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2241360" y="1293120"/>
            <a:ext cx="46609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7" name="Google Shape;64;p9"/>
          <p:cNvGrpSpPr/>
          <p:nvPr/>
        </p:nvGrpSpPr>
        <p:grpSpPr>
          <a:xfrm>
            <a:off x="-576720" y="-987480"/>
            <a:ext cx="9846720" cy="9218880"/>
            <a:chOff x="-576720" y="-987480"/>
            <a:chExt cx="9846720" cy="9218880"/>
          </a:xfrm>
        </p:grpSpPr>
        <p:pic>
          <p:nvPicPr>
            <p:cNvPr id="138" name="Google Shape;65;p9"/>
            <p:cNvPicPr/>
            <p:nvPr/>
          </p:nvPicPr>
          <p:blipFill>
            <a:blip r:embed="rId3"/>
            <a:stretch/>
          </p:blipFill>
          <p:spPr>
            <a:xfrm rot="11378400" flipH="1">
              <a:off x="-362880" y="4122360"/>
              <a:ext cx="9419760" cy="3343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9" name="Google Shape;66;p9"/>
            <p:cNvPicPr/>
            <p:nvPr/>
          </p:nvPicPr>
          <p:blipFill>
            <a:blip r:embed="rId4">
              <a:alphaModFix amt="37000"/>
            </a:blip>
            <a:srcRect l="22932" b="43561"/>
            <a:stretch/>
          </p:blipFill>
          <p:spPr>
            <a:xfrm rot="1573800" flipH="1">
              <a:off x="-245520" y="3530880"/>
              <a:ext cx="4848480" cy="2008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0" name="Google Shape;67;p9"/>
            <p:cNvPicPr/>
            <p:nvPr/>
          </p:nvPicPr>
          <p:blipFill>
            <a:blip r:embed="rId5"/>
            <a:stretch/>
          </p:blipFill>
          <p:spPr>
            <a:xfrm rot="10800000" flipH="1">
              <a:off x="4435920" y="-987480"/>
              <a:ext cx="4748400" cy="21466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14240" y="1200240"/>
            <a:ext cx="771480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dirty="0">
                <a:solidFill>
                  <a:schemeClr val="dk1"/>
                </a:solidFill>
                <a:latin typeface="Arial"/>
                <a:cs typeface="Arial"/>
              </a:rPr>
              <a:t>Calen-Go</a:t>
            </a:r>
            <a:endParaRPr lang="hu-HU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ubTitle"/>
          </p:nvPr>
        </p:nvSpPr>
        <p:spPr>
          <a:xfrm>
            <a:off x="714240" y="2990880"/>
            <a:ext cx="7714800" cy="4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Reszponzív webes </a:t>
            </a:r>
            <a:r>
              <a:rPr lang="en-US" sz="160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időfoglalási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rendszer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cxnSp>
        <p:nvCxnSpPr>
          <p:cNvPr id="146" name="Google Shape;233;p30"/>
          <p:cNvCxnSpPr/>
          <p:nvPr/>
        </p:nvCxnSpPr>
        <p:spPr>
          <a:xfrm>
            <a:off x="1130400" y="2700720"/>
            <a:ext cx="6883200" cy="360"/>
          </a:xfrm>
          <a:prstGeom prst="straightConnector1">
            <a:avLst/>
          </a:prstGeom>
          <a:ln w="9525">
            <a:solidFill>
              <a:schemeClr val="tx1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06400" y="833702"/>
            <a:ext cx="332388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A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3000" b="1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Projekt 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169718" y="2569531"/>
            <a:ext cx="4068563" cy="43587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DD2AE20-A925-FD53-DE65-5FEA81183A3B}"/>
              </a:ext>
            </a:extLst>
          </p:cNvPr>
          <p:cNvSpPr txBox="1"/>
          <p:nvPr/>
        </p:nvSpPr>
        <p:spPr>
          <a:xfrm>
            <a:off x="404090" y="1777564"/>
            <a:ext cx="533515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400">
                <a:latin typeface="Arial"/>
                <a:cs typeface="Arial"/>
              </a:rPr>
              <a:t>A szakdolgozat keretében egy reszponzív, webalapú időpontfoglaló rendszer került megvalósításra, amely személyi edzői időpontok kezelésére szolgál. </a:t>
            </a:r>
          </a:p>
          <a:p>
            <a:r>
              <a:rPr lang="hu-HU" sz="1400">
                <a:latin typeface="Arial"/>
                <a:cs typeface="Arial"/>
              </a:rPr>
              <a:t>A rendszer egy modern, böngészőben futtatható alkalmazás, amely a felhasználók és az edzők közötti időpont-egyeztetési folyamatot digitalizálja és egyszerűsíti. </a:t>
            </a:r>
          </a:p>
          <a:p>
            <a:r>
              <a:rPr lang="hu-HU" sz="1400">
                <a:latin typeface="Arial"/>
                <a:cs typeface="Arial"/>
              </a:rPr>
              <a:t>A fejlesztés során kiemelt szempont volt az átlátható felhasználói felület, a gyors működés, valamint az adatok megbízható kezelése</a:t>
            </a:r>
            <a:endParaRPr lang="hu-HU" sz="1400"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351669" y="2129105"/>
            <a:ext cx="6434529" cy="132432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1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Időpontfoglaló</a:t>
            </a:r>
            <a:r>
              <a:rPr lang="en-US" sz="41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41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rendszer</a:t>
            </a:r>
            <a:br>
              <a:rPr lang="en-US" dirty="0">
                <a:cs typeface="Arial"/>
              </a:rPr>
            </a:br>
            <a:r>
              <a:rPr lang="en-US" sz="4100" b="1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 </a:t>
            </a:r>
            <a:r>
              <a:rPr lang="en-US" sz="41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felépítése</a:t>
            </a:r>
            <a:endParaRPr lang="fr-FR" sz="4100" b="0" u="none" strike="noStrike" dirty="0" err="1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églalap 151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Felhasználói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fiókok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és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endParaRPr lang="en-US" sz="3000" b="1">
              <a:solidFill>
                <a:schemeClr val="dk1"/>
              </a:solidFill>
              <a:latin typeface="Arial"/>
              <a:cs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jogosultságok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53" name="Téglalap 152"/>
          <p:cNvSpPr/>
          <p:nvPr/>
        </p:nvSpPr>
        <p:spPr>
          <a:xfrm>
            <a:off x="476280" y="1812756"/>
            <a:ext cx="4438808" cy="3040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rendszer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fiókhoz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kötött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regisztráció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bejelentkezés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után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használható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. 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felhasználók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kezelhetik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adataikat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foglalásaikat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új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időpontokat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foglalhatnak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. 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Az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időpontfoglalás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algoritmusa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ellenőrzi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a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helyszínt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,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elérhetőséget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a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bérlet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érvényességét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54627" y="493111"/>
            <a:ext cx="446688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Adminisztrátori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3000" b="1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kezelőfelület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3000" b="1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funkciói</a:t>
            </a:r>
            <a:endParaRPr lang="fr-FR" sz="3000" b="1" u="none" strike="noStrike" err="1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651904" y="1588167"/>
            <a:ext cx="3973693" cy="29066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Az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adminisztrátorok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speciális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jogosultságokat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kapnak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: </a:t>
            </a:r>
            <a:br>
              <a:rPr lang="hu-HU" sz="1400" dirty="0">
                <a:solidFill>
                  <a:schemeClr val="dk1"/>
                </a:solidFill>
                <a:latin typeface="Arial"/>
                <a:cs typeface="Arial"/>
              </a:rPr>
            </a:b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kezelhetik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a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felhasználókat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és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edzőket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.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Képesek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 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módosítani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a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fiókok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szerepkörét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 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vagy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törölni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őket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a 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felhasználó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helyett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vagy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kérésére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,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biztosítva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a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rendszer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átláthatóságát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és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cs typeface="Arial"/>
              </a:rPr>
              <a:t>hatékonyságát</a:t>
            </a:r>
            <a:r>
              <a:rPr lang="en-US" sz="1400" dirty="0">
                <a:solidFill>
                  <a:schemeClr val="dk1"/>
                </a:solidFill>
                <a:latin typeface="Arial"/>
                <a:cs typeface="Arial"/>
              </a:rPr>
              <a:t>.</a:t>
            </a:r>
            <a:endParaRPr lang="hu-HU" dirty="0">
              <a:solidFill>
                <a:schemeClr val="dk1"/>
              </a:solidFill>
              <a:latin typeface="Arial"/>
              <a:cs typeface="Arial"/>
            </a:endParaRPr>
          </a:p>
        </p:txBody>
      </p:sp>
      <p:pic>
        <p:nvPicPr>
          <p:cNvPr id="2" name="Kép 1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53EBF5F9-03A8-3367-1726-D59677C87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916" y="1589170"/>
            <a:ext cx="4100262" cy="25592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57FCCF81-EC3F-5751-E463-53D5AC2F5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17280" y="1676198"/>
            <a:ext cx="3573200" cy="2908762"/>
          </a:xfrm>
        </p:spPr>
        <p:txBody>
          <a:bodyPr/>
          <a:lstStyle/>
          <a:p>
            <a:pPr marL="0" indent="0">
              <a:buNone/>
            </a:pPr>
            <a:r>
              <a:rPr lang="hu-HU" sz="1400">
                <a:ea typeface="+mn-lt"/>
                <a:cs typeface="+mn-lt"/>
              </a:rPr>
              <a:t>Az edző a kezelőfelületen könnyedén kezelheti az időpontokat és foglalásokat. Lehetősége van az ügyfelek által kért időpontok elfogadására, módosítására vagy elutasítására.</a:t>
            </a:r>
            <a:endParaRPr lang="hu-HU" sz="1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hu-HU" sz="1400">
                <a:ea typeface="+mn-lt"/>
                <a:cs typeface="+mn-lt"/>
              </a:rPr>
              <a:t>Emellett egy átlátható naptár nézetben tekintheti át az összes foglalást, így egyszerűen megtervezheti a napi és heti időbeosztását.</a:t>
            </a:r>
            <a:endParaRPr lang="hu-HU" sz="1400">
              <a:cs typeface="Arial"/>
            </a:endParaRPr>
          </a:p>
          <a:p>
            <a:endParaRPr lang="hu-HU" sz="1400" dirty="0">
              <a:cs typeface="Arial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03ADACF9-3583-E81B-1549-81C767D4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80" y="477233"/>
            <a:ext cx="4462200" cy="1146600"/>
          </a:xfrm>
        </p:spPr>
        <p:txBody>
          <a:bodyPr/>
          <a:lstStyle/>
          <a:p>
            <a:pPr marL="0" indent="0">
              <a:buNone/>
            </a:pPr>
            <a:r>
              <a:rPr lang="hu-HU" sz="2700" b="1" dirty="0">
                <a:cs typeface="Arial"/>
              </a:rPr>
              <a:t>Edzői kezelőfelület és funkciói</a:t>
            </a:r>
            <a:endParaRPr lang="hu-HU" sz="2700" b="1" dirty="0"/>
          </a:p>
        </p:txBody>
      </p:sp>
      <p:pic>
        <p:nvPicPr>
          <p:cNvPr id="5" name="Kép 4" descr="A képen szöveg, képernyőkép, Multimédiás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5D21840D-9A37-0171-D325-F2C4217CF2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59"/>
          <a:stretch/>
        </p:blipFill>
        <p:spPr>
          <a:xfrm>
            <a:off x="4653522" y="254542"/>
            <a:ext cx="4190651" cy="2738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Kép 5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123BAD92-5B8C-5449-2F34-84F5C65F5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487" y="2447636"/>
            <a:ext cx="3022436" cy="25284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504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9171792D-492B-40D9-D909-C5540FCF9AF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17280" y="1676198"/>
            <a:ext cx="3221064" cy="2908762"/>
          </a:xfrm>
        </p:spPr>
        <p:txBody>
          <a:bodyPr/>
          <a:lstStyle/>
          <a:p>
            <a:pPr marL="0" indent="0">
              <a:buNone/>
            </a:pPr>
            <a:r>
              <a:rPr lang="hu-HU" sz="1400">
                <a:ea typeface="+mn-lt"/>
                <a:cs typeface="+mn-lt"/>
              </a:rPr>
              <a:t>A felhasználó a kezelőfelületen egyszerűen kiválaszthatja a számára megfelelő edzőt.</a:t>
            </a:r>
            <a:endParaRPr lang="hu-HU"/>
          </a:p>
          <a:p>
            <a:pPr marL="0" indent="0">
              <a:buNone/>
            </a:pPr>
            <a:r>
              <a:rPr lang="hu-HU" sz="1400">
                <a:ea typeface="+mn-lt"/>
                <a:cs typeface="+mn-lt"/>
              </a:rPr>
              <a:t>Megtekintheti az edzők bemutatkozását, szakirányát és tapasztalatait, így könnyebben hozhat döntést. </a:t>
            </a:r>
          </a:p>
          <a:p>
            <a:pPr marL="0" indent="0">
              <a:buNone/>
            </a:pPr>
            <a:r>
              <a:rPr lang="hu-HU" sz="1400">
                <a:ea typeface="+mn-lt"/>
                <a:cs typeface="+mn-lt"/>
              </a:rPr>
              <a:t>Az elérhető időpontokat egy átlátható naptár rendszerben láthatja, ahol gyorsan és kényelmesen foglalhat időpontot.</a:t>
            </a:r>
            <a:endParaRPr lang="hu-HU" sz="1400">
              <a:cs typeface="Arial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E20804DA-8DC5-F0B6-1B21-64E37CED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80" y="494551"/>
            <a:ext cx="4462200" cy="1146600"/>
          </a:xfrm>
        </p:spPr>
        <p:txBody>
          <a:bodyPr/>
          <a:lstStyle/>
          <a:p>
            <a:pPr marL="0" indent="0">
              <a:buNone/>
            </a:pPr>
            <a:r>
              <a:rPr lang="hu-HU" sz="2700" b="1" dirty="0" err="1">
                <a:cs typeface="Arial"/>
              </a:rPr>
              <a:t>User</a:t>
            </a:r>
            <a:r>
              <a:rPr lang="hu-HU" sz="2700" dirty="0">
                <a:cs typeface="Arial"/>
              </a:rPr>
              <a:t> </a:t>
            </a:r>
            <a:r>
              <a:rPr lang="hu-HU" sz="2700" b="1" dirty="0">
                <a:cs typeface="Arial"/>
              </a:rPr>
              <a:t>kezelőfelület</a:t>
            </a:r>
            <a:endParaRPr lang="hu-HU" sz="2700" b="1" dirty="0"/>
          </a:p>
        </p:txBody>
      </p:sp>
      <p:pic>
        <p:nvPicPr>
          <p:cNvPr id="5" name="Kép 4" descr="A képen szöveg, képernyőkép, multimédia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4E2F70C4-CFA8-E188-CFCA-09DF6E1F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961" y="163841"/>
            <a:ext cx="4664006" cy="2700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Kép 5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2C9C6198-7184-7F87-E7BD-24CD1FDD2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938" y="2373949"/>
            <a:ext cx="3406037" cy="25437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5183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9CF0D218-D766-CF43-C6B6-C3939DDE82F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035893" y="968767"/>
            <a:ext cx="2359513" cy="2117354"/>
          </a:xfrm>
        </p:spPr>
        <p:txBody>
          <a:bodyPr/>
          <a:lstStyle/>
          <a:p>
            <a:pPr marL="0" indent="0" algn="ctr">
              <a:buNone/>
            </a:pPr>
            <a:r>
              <a:rPr lang="hu-HU" sz="1400" b="1">
                <a:latin typeface="Arial"/>
                <a:cs typeface="Arial"/>
              </a:rPr>
              <a:t>Felhasználók:</a:t>
            </a:r>
          </a:p>
          <a:p>
            <a:r>
              <a:rPr lang="hu-HU" sz="1400">
                <a:latin typeface="Arial"/>
                <a:ea typeface="+mn-lt"/>
                <a:cs typeface="Arial"/>
              </a:rPr>
              <a:t>Regisztráció és bejelentkezés</a:t>
            </a:r>
          </a:p>
          <a:p>
            <a:r>
              <a:rPr lang="hu-HU" sz="1400">
                <a:latin typeface="Arial"/>
                <a:ea typeface="+mn-lt"/>
                <a:cs typeface="Arial"/>
              </a:rPr>
              <a:t>Időpontfoglalás edzőkhöz</a:t>
            </a:r>
          </a:p>
          <a:p>
            <a:r>
              <a:rPr lang="hu-HU" sz="1400">
                <a:latin typeface="Arial"/>
                <a:ea typeface="+mn-lt"/>
                <a:cs typeface="Arial"/>
              </a:rPr>
              <a:t>Foglalások megtekintése és lemondása</a:t>
            </a:r>
            <a:endParaRPr lang="hu-HU" sz="1400" dirty="0">
              <a:latin typeface="Arial"/>
              <a:cs typeface="Arial"/>
            </a:endParaRPr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BB46F8AA-6B7F-C319-90D4-64DCDAA7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583" y="146771"/>
            <a:ext cx="5152312" cy="575100"/>
          </a:xfrm>
        </p:spPr>
        <p:txBody>
          <a:bodyPr/>
          <a:lstStyle/>
          <a:p>
            <a:pPr marL="0" indent="0" algn="ctr">
              <a:buNone/>
            </a:pPr>
            <a:r>
              <a:rPr lang="hu-HU" sz="3000" b="1">
                <a:latin typeface="Arial"/>
                <a:cs typeface="Arial"/>
              </a:rPr>
              <a:t>Szerepek részletei:</a:t>
            </a:r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D0D772F-5EEC-4E47-836A-7F7694B63B3F}"/>
              </a:ext>
            </a:extLst>
          </p:cNvPr>
          <p:cNvSpPr txBox="1"/>
          <p:nvPr/>
        </p:nvSpPr>
        <p:spPr>
          <a:xfrm>
            <a:off x="3395140" y="966589"/>
            <a:ext cx="2364068" cy="19851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1000"/>
              </a:spcBef>
            </a:pPr>
            <a:r>
              <a:rPr lang="hu-HU" sz="1400" b="1">
                <a:latin typeface="Arial"/>
                <a:cs typeface="Arial"/>
              </a:rPr>
              <a:t>Edzők:</a:t>
            </a:r>
            <a:endParaRPr lang="hu-HU">
              <a:latin typeface="Arial"/>
              <a:cs typeface="Arial"/>
            </a:endParaRP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400">
                <a:latin typeface="Arial"/>
                <a:ea typeface="+mn-lt"/>
                <a:cs typeface="Arial"/>
              </a:rPr>
              <a:t>Saját foglalások megtekintése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400">
                <a:latin typeface="Arial"/>
                <a:ea typeface="+mn-lt"/>
                <a:cs typeface="Arial"/>
              </a:rPr>
              <a:t>Elérhető időpontok kezelése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400">
                <a:latin typeface="Arial"/>
                <a:ea typeface="+mn-lt"/>
                <a:cs typeface="Arial"/>
              </a:rPr>
              <a:t>Profil és bemutatkozás kezelése</a:t>
            </a:r>
            <a:endParaRPr lang="hu-HU" sz="1400" dirty="0">
              <a:latin typeface="Arial"/>
              <a:cs typeface="Arial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4CAF059-3450-C4BE-416F-1F9EB7FF85CE}"/>
              </a:ext>
            </a:extLst>
          </p:cNvPr>
          <p:cNvSpPr txBox="1"/>
          <p:nvPr/>
        </p:nvSpPr>
        <p:spPr>
          <a:xfrm>
            <a:off x="5759856" y="963571"/>
            <a:ext cx="2346816" cy="1210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1400" b="1">
                <a:latin typeface="Arial"/>
                <a:cs typeface="Arial"/>
              </a:rPr>
              <a:t>Adminok: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400">
                <a:latin typeface="Arial"/>
                <a:ea typeface="+mn-lt"/>
                <a:cs typeface="Arial"/>
              </a:rPr>
              <a:t>Felhasználók és jogosultságok kezelése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hu-HU" sz="1400">
                <a:latin typeface="Arial"/>
                <a:ea typeface="+mn-lt"/>
                <a:cs typeface="Arial"/>
              </a:rPr>
              <a:t>Szerepkörök kiosztása</a:t>
            </a:r>
            <a:endParaRPr lang="hu-HU"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5651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58536" y="654747"/>
            <a:ext cx="6244878" cy="136777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Automatizált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3000" b="1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visszaigazolás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3000" b="1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és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3000" b="1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értesítések</a:t>
            </a:r>
            <a:endParaRPr lang="fr-FR" sz="3000" b="1" u="none" strike="noStrike" err="1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58536" y="1801758"/>
            <a:ext cx="5777288" cy="292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rendszer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automatikusan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emailben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küld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visszaigazolást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foglalás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részleteivel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, mint 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dátum</a:t>
            </a: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időpont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. </a:t>
            </a:r>
            <a:endParaRPr lang="en-US" sz="1400" dirty="0">
              <a:solidFill>
                <a:schemeClr val="dk1"/>
              </a:solidFill>
              <a:latin typeface="Arial"/>
              <a:ea typeface="Montserrat"/>
              <a:cs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felhasználók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tudják</a:t>
            </a: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lemondani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foglalásaikat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melyeket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a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rendszer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töröl</a:t>
            </a: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az</a:t>
            </a: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adatbázisból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.</a:t>
            </a:r>
            <a:endParaRPr lang="fr-FR" sz="1400" dirty="0">
              <a:solidFill>
                <a:schemeClr val="dk1"/>
              </a:solidFill>
              <a:latin typeface="Arial"/>
              <a:ea typeface="Montserrat"/>
              <a:cs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Ez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biztosítja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a </a:t>
            </a:r>
            <a:r>
              <a:rPr lang="en-US" sz="140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hatékony</a:t>
            </a:r>
            <a:r>
              <a:rPr lang="en-US" sz="140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kommunikációt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a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zökkenőmentes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ügyfélkezelést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.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églalap 159"/>
          <p:cNvSpPr/>
          <p:nvPr/>
        </p:nvSpPr>
        <p:spPr>
          <a:xfrm>
            <a:off x="1044924" y="1948386"/>
            <a:ext cx="7232867" cy="14342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7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Technológiai</a:t>
            </a:r>
            <a:r>
              <a:rPr lang="en-US" sz="37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37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megvalósítás</a:t>
            </a:r>
            <a:r>
              <a:rPr lang="en-US" sz="37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37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és</a:t>
            </a:r>
            <a:r>
              <a:rPr lang="en-US" sz="37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37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adatkezelés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églalap 160"/>
          <p:cNvSpPr/>
          <p:nvPr/>
        </p:nvSpPr>
        <p:spPr>
          <a:xfrm>
            <a:off x="476280" y="811098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Backend: Node.js </a:t>
            </a: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és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REST API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62" name="Téglalap 161"/>
          <p:cNvSpPr/>
          <p:nvPr/>
        </p:nvSpPr>
        <p:spPr>
          <a:xfrm>
            <a:off x="476280" y="1905120"/>
            <a:ext cx="4093535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Egy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átlátható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és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könnyen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kezelhető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Backend volt 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cél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endParaRPr lang="en-US" sz="1400" dirty="0">
              <a:solidFill>
                <a:schemeClr val="dk1"/>
              </a:solidFill>
              <a:latin typeface="Arial"/>
              <a:ea typeface="+mn-lt"/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Node.js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alapú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szerver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endParaRPr lang="hu-HU" sz="1400" dirty="0">
              <a:solidFill>
                <a:schemeClr val="dk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REST 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API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végpontok</a:t>
            </a:r>
            <a:endParaRPr lang="en-US" sz="1400" dirty="0" err="1">
              <a:solidFill>
                <a:schemeClr val="dk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JSON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alapú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kommunikáció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CRUD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műveletek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SQLite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adatbázissal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Jogosultságkezelés</a:t>
            </a:r>
            <a:endParaRPr lang="en-US" sz="1400" dirty="0" err="1">
              <a:solidFill>
                <a:schemeClr val="dk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Validáció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és</a:t>
            </a:r>
            <a:r>
              <a:rPr lang="en-US" sz="140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hibakezelés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endParaRPr lang="en-US" sz="1400" dirty="0">
              <a:solidFill>
                <a:schemeClr val="dk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Skálázható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bővíthető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felépítés</a:t>
            </a:r>
            <a:endParaRPr lang="en-US" dirty="0" err="1">
              <a:solidFill>
                <a:schemeClr val="dk1"/>
              </a:solidFill>
              <a:latin typeface="Arial"/>
              <a:cs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95036" y="631656"/>
            <a:ext cx="5858107" cy="112532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Frontend: HTML, CSS </a:t>
            </a: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és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Tailwind CSS</a:t>
            </a:r>
            <a:endParaRPr lang="fr-FR" sz="3000" b="1" u="none" strike="noStrike" dirty="0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95036" y="1732921"/>
            <a:ext cx="4887417" cy="284843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Próbáljuk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biztosítja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felhasználói</a:t>
            </a: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élményt</a:t>
            </a: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 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asztali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mobil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eszközökön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egyaránt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valamint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könnyű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karbantartást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bővítést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Arial"/>
              <a:ea typeface="Montserrat"/>
              <a:cs typeface="Arial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400" dirty="0">
              <a:solidFill>
                <a:schemeClr val="dk1"/>
              </a:solidFill>
              <a:latin typeface="Arial"/>
              <a:ea typeface="Montserrat"/>
              <a:cs typeface="Arial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HTML </a:t>
            </a:r>
            <a:r>
              <a:rPr lang="en-US" sz="140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felépítés</a:t>
            </a:r>
            <a:endParaRPr lang="en-US" sz="1400">
              <a:solidFill>
                <a:schemeClr val="dk1"/>
              </a:solidFill>
              <a:latin typeface="Arial"/>
              <a:ea typeface="Montserrat"/>
              <a:cs typeface="Arial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CSS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és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tailwindCSS</a:t>
            </a:r>
            <a:endParaRPr lang="en-US" sz="1400" dirty="0">
              <a:solidFill>
                <a:schemeClr val="dk1"/>
              </a:solidFill>
              <a:latin typeface="Arial"/>
              <a:ea typeface="Montserrat"/>
              <a:cs typeface="Arial"/>
            </a:endParaRP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JavaScript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és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 Angular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reszponzivitás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 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Montserrat"/>
                <a:cs typeface="Arial"/>
              </a:rPr>
              <a:t>érdekében</a:t>
            </a:r>
          </a:p>
          <a:p>
            <a:pPr marL="514350" indent="-285750">
              <a:lnSpc>
                <a:spcPct val="100000"/>
              </a:lnSpc>
              <a:spcBef>
                <a:spcPts val="0"/>
              </a:spcBef>
              <a:tabLst>
                <a:tab pos="0" algn="l"/>
              </a:tabLst>
            </a:pPr>
            <a:endParaRPr lang="en-US" sz="1400" dirty="0">
              <a:solidFill>
                <a:schemeClr val="dk1"/>
              </a:solidFill>
              <a:latin typeface="Arial"/>
              <a:ea typeface="Montserrat"/>
              <a:cs typeface="Arial"/>
            </a:endParaRPr>
          </a:p>
          <a:p>
            <a:pPr marL="514350" indent="-285750">
              <a:lnSpc>
                <a:spcPct val="150000"/>
              </a:lnSpc>
              <a:spcBef>
                <a:spcPts val="0"/>
              </a:spcBef>
              <a:tabLst>
                <a:tab pos="0" algn="l"/>
              </a:tabLst>
            </a:pPr>
            <a:endParaRPr lang="en-US" sz="1400" dirty="0">
              <a:solidFill>
                <a:schemeClr val="dk1"/>
              </a:solidFill>
              <a:latin typeface="Arial"/>
              <a:ea typeface="Montserrat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églalap 164"/>
          <p:cNvSpPr/>
          <p:nvPr/>
        </p:nvSpPr>
        <p:spPr>
          <a:xfrm>
            <a:off x="4875098" y="482053"/>
            <a:ext cx="3965443" cy="1298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Adatbázis-kezelés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: SQLite </a:t>
            </a: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és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CRUD </a:t>
            </a: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műveletek</a:t>
            </a:r>
            <a:endParaRPr lang="en-US" sz="300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66" name="Téglalap 165"/>
          <p:cNvSpPr/>
          <p:nvPr/>
        </p:nvSpPr>
        <p:spPr>
          <a:xfrm>
            <a:off x="4875098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Az </a:t>
            </a:r>
            <a:r>
              <a:rPr lang="en-US" sz="12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adatok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tárolása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SQLite </a:t>
            </a:r>
            <a:r>
              <a:rPr lang="en-US" sz="12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adatbázisban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történik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, </a:t>
            </a:r>
            <a:r>
              <a:rPr lang="en-US" sz="12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amely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támogatja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a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CRUD </a:t>
            </a:r>
            <a:r>
              <a:rPr lang="en-US" sz="1200" b="1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műveleteket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(</a:t>
            </a:r>
            <a:r>
              <a:rPr lang="en-US" sz="12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létrehozás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, </a:t>
            </a:r>
            <a:r>
              <a:rPr lang="en-US" sz="12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olvasás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, </a:t>
            </a:r>
            <a:r>
              <a:rPr lang="en-US" sz="12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frissítés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, </a:t>
            </a:r>
            <a:r>
              <a:rPr lang="en-US" sz="1200" b="0" u="none" strike="noStrike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törlés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). </a:t>
            </a:r>
            <a:endParaRPr lang="en-US" sz="1200" dirty="0">
              <a:solidFill>
                <a:schemeClr val="dk1"/>
              </a:solidFill>
              <a:latin typeface="Arial"/>
              <a:cs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Ez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egyszerűsíti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az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adatok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kezelését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és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lehetővé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teszi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az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átlátható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adminisztrációs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felület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kialakítását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cs typeface="Arial"/>
              </a:rPr>
              <a:t>.</a:t>
            </a:r>
          </a:p>
        </p:txBody>
      </p:sp>
      <p:pic>
        <p:nvPicPr>
          <p:cNvPr id="167" name="image69851fb3e13a1" descr="image69851fb3e13a6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706582" y="891429"/>
            <a:ext cx="3803015" cy="112532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Következtetések 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706582" y="1588167"/>
            <a:ext cx="5315470" cy="292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A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rendszer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átfogó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megoldást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nyújt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időpontfoglalásra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,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egyesítve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a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felhasználói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kényelmet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adminisztrációs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hatékonyságot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. </a:t>
            </a:r>
            <a:endParaRPr lang="fr-FR" sz="1400">
              <a:solidFill>
                <a:schemeClr val="dk1"/>
              </a:solidFill>
              <a:latin typeface="Arial"/>
              <a:ea typeface="Montserrat"/>
              <a:cs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A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technológiai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alapok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biztosítják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a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megbízhatóságot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a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jövőbeni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 </a:t>
            </a:r>
            <a:r>
              <a:rPr lang="en-US" sz="1400" b="0" u="none" strike="noStrike" err="1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skálázhatóságot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Montserrat"/>
                <a:cs typeface="Arial"/>
              </a:rPr>
              <a:t>. </a:t>
            </a:r>
            <a:endParaRPr lang="fr-FR" sz="1400">
              <a:solidFill>
                <a:schemeClr val="dk1"/>
              </a:solidFill>
              <a:latin typeface="Arial"/>
              <a:ea typeface="Montserrat"/>
              <a:cs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Az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automatikus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értesítések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és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könnyen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kezelhető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felületek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hozzájárulnak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magas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színvonalú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szolgáltatáshoz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és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 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felhasználók</a:t>
            </a:r>
            <a:r>
              <a:rPr lang="en-US" sz="1400" dirty="0">
                <a:solidFill>
                  <a:schemeClr val="dk1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+mn-lt"/>
                <a:cs typeface="Arial"/>
              </a:rPr>
              <a:t>elégedettségéhez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+mn-lt"/>
                <a:cs typeface="Arial"/>
              </a:rPr>
              <a:t>.</a:t>
            </a:r>
            <a:endParaRPr lang="fr-FR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C1FBBA-7BC9-7A08-9654-03637B0A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482" y="675139"/>
            <a:ext cx="5417640" cy="1014503"/>
          </a:xfrm>
        </p:spPr>
        <p:txBody>
          <a:bodyPr/>
          <a:lstStyle/>
          <a:p>
            <a:r>
              <a:rPr lang="hu-HU" sz="3000" b="1" dirty="0">
                <a:latin typeface="Arial"/>
                <a:cs typeface="Arial"/>
              </a:rPr>
              <a:t>Jövőben egyéb fejlesztési </a:t>
            </a:r>
            <a:r>
              <a:rPr lang="hu-HU" sz="3000" b="1">
                <a:latin typeface="Arial"/>
                <a:cs typeface="Arial"/>
              </a:rPr>
              <a:t>lehetőségek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EEB3533-5FAE-02EC-4887-F3436C03CE0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91474" y="1688716"/>
            <a:ext cx="4746325" cy="3274101"/>
          </a:xfrm>
        </p:spPr>
        <p:txBody>
          <a:bodyPr>
            <a:normAutofit/>
          </a:bodyPr>
          <a:lstStyle/>
          <a:p>
            <a:r>
              <a:rPr lang="hu-HU" sz="1400" b="1">
                <a:latin typeface="Arial"/>
                <a:ea typeface="+mn-lt"/>
                <a:cs typeface="Arial"/>
              </a:rPr>
              <a:t>Online fizetési rendszer bevezetése</a:t>
            </a:r>
            <a:br>
              <a:rPr lang="hu-HU" sz="1400" dirty="0">
                <a:latin typeface="Arial"/>
                <a:ea typeface="+mn-lt"/>
                <a:cs typeface="Arial"/>
              </a:rPr>
            </a:br>
            <a:r>
              <a:rPr lang="hu-HU" sz="1400">
                <a:latin typeface="Arial"/>
                <a:ea typeface="+mn-lt"/>
                <a:cs typeface="Arial"/>
              </a:rPr>
              <a:t>Lehetőség a foglalások közvetlen kifizetésére, </a:t>
            </a:r>
            <a:r>
              <a:rPr lang="hu-HU" sz="1400" dirty="0">
                <a:latin typeface="Arial"/>
                <a:ea typeface="+mn-lt"/>
                <a:cs typeface="Arial"/>
              </a:rPr>
              <a:t>amely </a:t>
            </a:r>
            <a:r>
              <a:rPr lang="hu-HU" sz="1400">
                <a:latin typeface="Arial"/>
                <a:ea typeface="+mn-lt"/>
                <a:cs typeface="Arial"/>
              </a:rPr>
              <a:t>gyorsabbá és kényelmesebbé teszi a folyamatot.</a:t>
            </a:r>
          </a:p>
          <a:p>
            <a:endParaRPr lang="hu-HU" sz="1400">
              <a:latin typeface="Arial"/>
              <a:cs typeface="Arial"/>
            </a:endParaRPr>
          </a:p>
          <a:p>
            <a:r>
              <a:rPr lang="hu-HU" sz="1400" b="1">
                <a:latin typeface="Arial"/>
                <a:ea typeface="+mn-lt"/>
                <a:cs typeface="Arial"/>
              </a:rPr>
              <a:t>SMS értesítések</a:t>
            </a:r>
            <a:br>
              <a:rPr lang="hu-HU" sz="1400" dirty="0">
                <a:latin typeface="Arial"/>
                <a:ea typeface="+mn-lt"/>
                <a:cs typeface="Arial"/>
              </a:rPr>
            </a:br>
            <a:r>
              <a:rPr lang="hu-HU" sz="1400">
                <a:latin typeface="Arial"/>
                <a:ea typeface="+mn-lt"/>
                <a:cs typeface="Arial"/>
              </a:rPr>
              <a:t>Automatikus emlékeztetők és értesítések küldése </a:t>
            </a:r>
            <a:r>
              <a:rPr lang="hu-HU" sz="1400" dirty="0">
                <a:latin typeface="Arial"/>
                <a:ea typeface="+mn-lt"/>
                <a:cs typeface="Arial"/>
              </a:rPr>
              <a:t>a felhasználóknak a foglalásokról e-mailen kívűl is</a:t>
            </a:r>
            <a:endParaRPr lang="hu-HU" sz="1400" dirty="0">
              <a:latin typeface="Arial"/>
              <a:cs typeface="Arial"/>
            </a:endParaRPr>
          </a:p>
          <a:p>
            <a:endParaRPr lang="hu-HU" sz="1400" dirty="0">
              <a:latin typeface="Arial"/>
              <a:ea typeface="+mn-lt"/>
              <a:cs typeface="Arial"/>
            </a:endParaRPr>
          </a:p>
          <a:p>
            <a:r>
              <a:rPr lang="hu-HU" sz="1400" b="1">
                <a:latin typeface="Arial"/>
                <a:ea typeface="+mn-lt"/>
                <a:cs typeface="Arial"/>
              </a:rPr>
              <a:t>Több telephely kezelése</a:t>
            </a:r>
            <a:br>
              <a:rPr lang="hu-HU" sz="1400" dirty="0">
                <a:latin typeface="Arial"/>
                <a:ea typeface="+mn-lt"/>
                <a:cs typeface="Arial"/>
              </a:rPr>
            </a:br>
            <a:r>
              <a:rPr lang="hu-HU" sz="1400">
                <a:latin typeface="Arial"/>
                <a:ea typeface="+mn-lt"/>
                <a:cs typeface="Arial"/>
              </a:rPr>
              <a:t>A rendszer bővítése több edzőterem vagy más </a:t>
            </a:r>
            <a:r>
              <a:rPr lang="hu-HU" sz="1400" dirty="0">
                <a:latin typeface="Arial"/>
                <a:ea typeface="+mn-lt"/>
                <a:cs typeface="Arial"/>
              </a:rPr>
              <a:t>szolgáltatások  kezelésére. </a:t>
            </a:r>
            <a:endParaRPr lang="hu-HU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4257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D4F78F-BF04-97B7-C1DA-0B1BFCDE1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06096"/>
            <a:ext cx="7703640" cy="572400"/>
          </a:xfrm>
        </p:spPr>
        <p:txBody>
          <a:bodyPr/>
          <a:lstStyle/>
          <a:p>
            <a:pPr algn="ctr"/>
            <a:r>
              <a:rPr lang="hu-HU" dirty="0">
                <a:cs typeface="Arial"/>
              </a:rPr>
              <a:t>Köszönjük a figyelmet!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DB4CD63-8AF3-9609-BF6C-7093779077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2655" y="1717253"/>
            <a:ext cx="2912559" cy="2145915"/>
          </a:xfrm>
        </p:spPr>
        <p:txBody>
          <a:bodyPr lIns="0" tIns="0" rIns="0" bIns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hu-HU" sz="4000" err="1">
                <a:cs typeface="Arial"/>
              </a:rPr>
              <a:t>Calen</a:t>
            </a:r>
            <a:r>
              <a:rPr lang="hu-HU" sz="4000" dirty="0">
                <a:cs typeface="Arial"/>
              </a:rPr>
              <a:t>-Go</a:t>
            </a:r>
          </a:p>
          <a:p>
            <a:pPr algn="ctr"/>
            <a:endParaRPr lang="hu-HU" sz="4000" dirty="0">
              <a:cs typeface="Arial"/>
            </a:endParaRPr>
          </a:p>
          <a:p>
            <a:pPr algn="ctr"/>
            <a:r>
              <a:rPr lang="hu-HU" sz="2200" dirty="0">
                <a:cs typeface="Arial"/>
              </a:rPr>
              <a:t>Szeles Gergely Péter</a:t>
            </a:r>
          </a:p>
          <a:p>
            <a:pPr algn="ctr"/>
            <a:endParaRPr lang="hu-HU" sz="2200" dirty="0">
              <a:cs typeface="Arial"/>
            </a:endParaRPr>
          </a:p>
          <a:p>
            <a:pPr algn="ctr"/>
            <a:r>
              <a:rPr lang="hu-HU" sz="2200" dirty="0">
                <a:cs typeface="Arial"/>
              </a:rPr>
              <a:t>Szabó Ádám</a:t>
            </a:r>
          </a:p>
          <a:p>
            <a:pPr algn="ctr"/>
            <a:endParaRPr lang="hu-HU" sz="2200" dirty="0">
              <a:cs typeface="Arial"/>
            </a:endParaRPr>
          </a:p>
          <a:p>
            <a:pPr algn="ctr"/>
            <a:r>
              <a:rPr lang="hu-HU" sz="2200" dirty="0">
                <a:cs typeface="Arial"/>
              </a:rPr>
              <a:t>Tóth Milán Márk</a:t>
            </a:r>
          </a:p>
        </p:txBody>
      </p:sp>
    </p:spTree>
    <p:extLst>
      <p:ext uri="{BB962C8B-B14F-4D97-AF65-F5344CB8AC3E}">
        <p14:creationId xmlns:p14="http://schemas.microsoft.com/office/powerpoint/2010/main" val="3844644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uturistic Pattern Social Media Strategy by Slidesgo">
  <a:themeElements>
    <a:clrScheme name="Simple Light">
      <a:dk1>
        <a:srgbClr val="FFFFFF"/>
      </a:dk1>
      <a:lt1>
        <a:srgbClr val="0E0734"/>
      </a:lt1>
      <a:dk2>
        <a:srgbClr val="17216B"/>
      </a:dk2>
      <a:lt2>
        <a:srgbClr val="DF3CB0"/>
      </a:lt2>
      <a:accent1>
        <a:srgbClr val="8944BF"/>
      </a:accent1>
      <a:accent2>
        <a:srgbClr val="3060ED"/>
      </a:accent2>
      <a:accent3>
        <a:srgbClr val="4DE6EC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556</Words>
  <Application>Microsoft Office PowerPoint</Application>
  <PresentationFormat>Diavetítés a képernyőre (16:9 oldalarány)</PresentationFormat>
  <Paragraphs>76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2" baseType="lpstr">
      <vt:lpstr>Arial</vt:lpstr>
      <vt:lpstr>Montserrat</vt:lpstr>
      <vt:lpstr>OpenSymbol</vt:lpstr>
      <vt:lpstr>Symbol</vt:lpstr>
      <vt:lpstr>Wingdings</vt:lpstr>
      <vt:lpstr>Futuristic Pattern Social Media Strategy by Slidesgo</vt:lpstr>
      <vt:lpstr>Calen-Go</vt:lpstr>
      <vt:lpstr>A Projekt </vt:lpstr>
      <vt:lpstr>Időpontfoglaló rendszer  felépítése</vt:lpstr>
      <vt:lpstr>PowerPoint-bemutató</vt:lpstr>
      <vt:lpstr>Adminisztrátori kezelőfelület funkciói</vt:lpstr>
      <vt:lpstr>Edzői kezelőfelület és funkciói</vt:lpstr>
      <vt:lpstr>User kezelőfelület</vt:lpstr>
      <vt:lpstr>Szerepek részletei:</vt:lpstr>
      <vt:lpstr>Automatizált visszaigazolás és értesítések</vt:lpstr>
      <vt:lpstr>PowerPoint-bemutató</vt:lpstr>
      <vt:lpstr>PowerPoint-bemutató</vt:lpstr>
      <vt:lpstr>Frontend: HTML, CSS és Tailwind CSS</vt:lpstr>
      <vt:lpstr>PowerPoint-bemutató</vt:lpstr>
      <vt:lpstr>Következtetések </vt:lpstr>
      <vt:lpstr>Jövőben egyéb fejlesztési lehetőségek</vt:lpstr>
      <vt:lpstr>Köszönjük a figyelmet!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Calen-Go</dc:title>
  <cp:lastModifiedBy>Trefort Diák</cp:lastModifiedBy>
  <cp:revision>616</cp:revision>
  <dcterms:modified xsi:type="dcterms:W3CDTF">2026-04-29T09:03:53Z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2026-02-05T22:54:35Z</dcterms:created>
  <dc:creator>Unknown Creator</dc:creator>
  <dc:description/>
  <dc:language>en-US</dc:language>
  <cp:lastModifiedBy>Unknown Creator</cp:lastModifiedBy>
  <dcterms:modified xsi:type="dcterms:W3CDTF">2026-02-05T22:54:35Z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